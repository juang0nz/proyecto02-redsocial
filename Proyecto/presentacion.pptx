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w Bold" charset="1" panose="00000800000000000000"/>
      <p:regular r:id="rId16"/>
    </p:embeddedFont>
    <p:embeddedFont>
      <p:font typeface="Proxima Nova Bold" charset="1" panose="02000506030000020004"/>
      <p:regular r:id="rId17"/>
    </p:embeddedFont>
    <p:embeddedFont>
      <p:font typeface="Now Medium" charset="1" panose="00000600000000000000"/>
      <p:regular r:id="rId18"/>
    </p:embeddedFont>
    <p:embeddedFont>
      <p:font typeface="Now Heavy" charset="1" panose="00000A00000000000000"/>
      <p:regular r:id="rId19"/>
    </p:embeddedFont>
    <p:embeddedFont>
      <p:font typeface="Now" charset="1" panose="00000500000000000000"/>
      <p:regular r:id="rId20"/>
    </p:embeddedFont>
    <p:embeddedFont>
      <p:font typeface="Roboto Condensed Bold" charset="1" panose="02000000000000000000"/>
      <p:regular r:id="rId21"/>
    </p:embeddedFont>
    <p:embeddedFont>
      <p:font typeface="Roboto Condensed" charset="1" panose="02000000000000000000"/>
      <p:regular r:id="rId22"/>
    </p:embeddedFont>
    <p:embeddedFont>
      <p:font typeface="Fira Sans" charset="1" panose="020B0503050000020004"/>
      <p:regular r:id="rId23"/>
    </p:embeddedFont>
    <p:embeddedFont>
      <p:font typeface="Proxima Nova Heavy" charset="1" panose="02000506030000020004"/>
      <p:regular r:id="rId24"/>
    </p:embeddedFont>
    <p:embeddedFont>
      <p:font typeface="TT Hoves Bold" charset="1" panose="02000003020000060003"/>
      <p:regular r:id="rId25"/>
    </p:embeddedFont>
    <p:embeddedFont>
      <p:font typeface="TT Chocolates Bold" charset="1" panose="020008030200000200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35.png" Type="http://schemas.openxmlformats.org/officeDocument/2006/relationships/image"/><Relationship Id="rId18" Target="../media/image36.png" Type="http://schemas.openxmlformats.org/officeDocument/2006/relationships/image"/><Relationship Id="rId19" Target="../media/image37.png" Type="http://schemas.openxmlformats.org/officeDocument/2006/relationships/image"/><Relationship Id="rId2" Target="../media/image20.png" Type="http://schemas.openxmlformats.org/officeDocument/2006/relationships/image"/><Relationship Id="rId20" Target="../media/image38.png" Type="http://schemas.openxmlformats.org/officeDocument/2006/relationships/image"/><Relationship Id="rId21" Target="../media/image39.png" Type="http://schemas.openxmlformats.org/officeDocument/2006/relationships/image"/><Relationship Id="rId22" Target="../media/image40.png" Type="http://schemas.openxmlformats.org/officeDocument/2006/relationships/image"/><Relationship Id="rId23" Target="../media/image41.png" Type="http://schemas.openxmlformats.org/officeDocument/2006/relationships/image"/><Relationship Id="rId24" Target="../media/image42.png" Type="http://schemas.openxmlformats.org/officeDocument/2006/relationships/image"/><Relationship Id="rId25" Target="../media/image43.png" Type="http://schemas.openxmlformats.org/officeDocument/2006/relationships/image"/><Relationship Id="rId26" Target="../media/image44.png" Type="http://schemas.openxmlformats.org/officeDocument/2006/relationships/image"/><Relationship Id="rId27" Target="../media/image45.png" Type="http://schemas.openxmlformats.org/officeDocument/2006/relationships/image"/><Relationship Id="rId28" Target="../media/image46.png" Type="http://schemas.openxmlformats.org/officeDocument/2006/relationships/image"/><Relationship Id="rId29" Target="../media/image47.png" Type="http://schemas.openxmlformats.org/officeDocument/2006/relationships/image"/><Relationship Id="rId3" Target="../media/image21.png" Type="http://schemas.openxmlformats.org/officeDocument/2006/relationships/image"/><Relationship Id="rId30" Target="../media/image48.png" Type="http://schemas.openxmlformats.org/officeDocument/2006/relationships/image"/><Relationship Id="rId31" Target="../media/image49.png" Type="http://schemas.openxmlformats.org/officeDocument/2006/relationships/image"/><Relationship Id="rId32" Target="../media/image50.png" Type="http://schemas.openxmlformats.org/officeDocument/2006/relationships/image"/><Relationship Id="rId33" Target="../media/image51.png" Type="http://schemas.openxmlformats.org/officeDocument/2006/relationships/image"/><Relationship Id="rId34" Target="../media/image52.png" Type="http://schemas.openxmlformats.org/officeDocument/2006/relationships/image"/><Relationship Id="rId35" Target="../media/image53.png" Type="http://schemas.openxmlformats.org/officeDocument/2006/relationships/image"/><Relationship Id="rId36" Target="../media/image54.png" Type="http://schemas.openxmlformats.org/officeDocument/2006/relationships/image"/><Relationship Id="rId37" Target="../media/image55.png" Type="http://schemas.openxmlformats.org/officeDocument/2006/relationships/image"/><Relationship Id="rId38" Target="../media/image56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pn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1976" y="1252276"/>
            <a:ext cx="6848535" cy="172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b="true" sz="7198" spc="-144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PROYECTO INTEGRADOR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5608" y="3164906"/>
            <a:ext cx="9485298" cy="180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b="true" sz="7198" spc="-144">
                <a:solidFill>
                  <a:srgbClr val="00998B"/>
                </a:solidFill>
                <a:latin typeface="Now Bold"/>
                <a:ea typeface="Now Bold"/>
                <a:cs typeface="Now Bold"/>
                <a:sym typeface="Now Bold"/>
              </a:rPr>
              <a:t>RED SOCIAL</a:t>
            </a:r>
          </a:p>
          <a:p>
            <a:pPr algn="l">
              <a:lnSpc>
                <a:spcPts val="6839"/>
              </a:lnSpc>
            </a:pPr>
            <a:r>
              <a:rPr lang="en-US" b="true" sz="7198" spc="-144">
                <a:solidFill>
                  <a:srgbClr val="00998B"/>
                </a:solidFill>
                <a:latin typeface="Now Bold"/>
                <a:ea typeface="Now Bold"/>
                <a:cs typeface="Now Bold"/>
                <a:sym typeface="Now Bold"/>
              </a:rPr>
              <a:t>BASADA EN GRAFOS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5356674"/>
            <a:ext cx="2406316" cy="218640"/>
          </a:xfrm>
          <a:custGeom>
            <a:avLst/>
            <a:gdLst/>
            <a:ahLst/>
            <a:cxnLst/>
            <a:rect r="r" b="b" t="t" l="l"/>
            <a:pathLst>
              <a:path h="218640" w="2406316">
                <a:moveTo>
                  <a:pt x="0" y="0"/>
                </a:moveTo>
                <a:lnTo>
                  <a:pt x="2406316" y="0"/>
                </a:lnTo>
                <a:lnTo>
                  <a:pt x="240631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8649" y="5847383"/>
            <a:ext cx="3181210" cy="430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3041" spc="-6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Biblioteca de grafos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160" y="6450753"/>
            <a:ext cx="1630108" cy="42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3041" spc="-6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Red social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927" y="7036253"/>
            <a:ext cx="2153387" cy="43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9"/>
              </a:lnSpc>
            </a:pPr>
            <a:r>
              <a:rPr lang="en-US" sz="3041" spc="-6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Optimización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574" y="8352038"/>
            <a:ext cx="10686230" cy="1300906"/>
          </a:xfrm>
          <a:custGeom>
            <a:avLst/>
            <a:gdLst/>
            <a:ahLst/>
            <a:cxnLst/>
            <a:rect r="r" b="b" t="t" l="l"/>
            <a:pathLst>
              <a:path h="1300906" w="10686230">
                <a:moveTo>
                  <a:pt x="0" y="0"/>
                </a:moveTo>
                <a:lnTo>
                  <a:pt x="10686230" y="0"/>
                </a:lnTo>
                <a:lnTo>
                  <a:pt x="1068623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4271" y="8964261"/>
            <a:ext cx="2050226" cy="29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2262" spc="-45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Juan González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78220" y="8778386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8622" y="8778386"/>
            <a:ext cx="218756" cy="655919"/>
          </a:xfrm>
          <a:custGeom>
            <a:avLst/>
            <a:gdLst/>
            <a:ahLst/>
            <a:cxnLst/>
            <a:rect r="r" b="b" t="t" l="l"/>
            <a:pathLst>
              <a:path h="655919" w="218756">
                <a:moveTo>
                  <a:pt x="0" y="0"/>
                </a:moveTo>
                <a:lnTo>
                  <a:pt x="218756" y="0"/>
                </a:lnTo>
                <a:lnTo>
                  <a:pt x="21875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22308" y="8964261"/>
            <a:ext cx="2284078" cy="29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2262" spc="-45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Gerónimo Lopez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91271" y="8975179"/>
            <a:ext cx="2214352" cy="27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2262" spc="-45" b="true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Dalton Crampet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976890" cy="10287000"/>
          </a:xfrm>
          <a:custGeom>
            <a:avLst/>
            <a:gdLst/>
            <a:ahLst/>
            <a:cxnLst/>
            <a:rect r="r" b="b" t="t" l="l"/>
            <a:pathLst>
              <a:path h="10287000" w="1197689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12708" y="0"/>
            <a:ext cx="4364182" cy="10287000"/>
          </a:xfrm>
          <a:custGeom>
            <a:avLst/>
            <a:gdLst/>
            <a:ahLst/>
            <a:cxnLst/>
            <a:rect r="r" b="b" t="t" l="l"/>
            <a:pathLst>
              <a:path h="10287000" w="4364182">
                <a:moveTo>
                  <a:pt x="0" y="0"/>
                </a:moveTo>
                <a:lnTo>
                  <a:pt x="4364182" y="0"/>
                </a:lnTo>
                <a:lnTo>
                  <a:pt x="4364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4642" y="1566423"/>
            <a:ext cx="5581882" cy="1146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172">
                <a:solidFill>
                  <a:srgbClr val="F8F8F8"/>
                </a:solidFill>
                <a:latin typeface="Now Heavy"/>
                <a:ea typeface="Now Heavy"/>
                <a:cs typeface="Now Heavy"/>
                <a:sym typeface="Now Heavy"/>
              </a:rPr>
              <a:t>DESAFÍO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4546" y="2695986"/>
            <a:ext cx="6591523" cy="1146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172">
                <a:solidFill>
                  <a:srgbClr val="09A68F"/>
                </a:solidFill>
                <a:latin typeface="Now Heavy"/>
                <a:ea typeface="Now Heavy"/>
                <a:cs typeface="Now Heavy"/>
                <a:sym typeface="Now Heavy"/>
              </a:rPr>
              <a:t>BIBLIOTECA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5972" y="3840610"/>
            <a:ext cx="6448925" cy="1146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172">
                <a:solidFill>
                  <a:srgbClr val="008674"/>
                </a:solidFill>
                <a:latin typeface="Now Heavy"/>
                <a:ea typeface="Now Heavy"/>
                <a:cs typeface="Now Heavy"/>
                <a:sym typeface="Now Heavy"/>
              </a:rPr>
              <a:t>DE GRAFOS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800" y="4999835"/>
            <a:ext cx="5645014" cy="9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556" indent="-328278" lvl="1">
              <a:lnSpc>
                <a:spcPts val="3649"/>
              </a:lnSpc>
              <a:buFont typeface="Arial"/>
              <a:buChar char="•"/>
            </a:pPr>
            <a:r>
              <a:rPr lang="en-US" sz="3041">
                <a:solidFill>
                  <a:srgbClr val="F8F8F8"/>
                </a:solidFill>
                <a:latin typeface="Now"/>
                <a:ea typeface="Now"/>
                <a:cs typeface="Now"/>
                <a:sym typeface="Now"/>
              </a:rPr>
              <a:t>Estructuras generales separadas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7970" y="6732159"/>
            <a:ext cx="5928035" cy="9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556" indent="-328278" lvl="1">
              <a:lnSpc>
                <a:spcPts val="3649"/>
              </a:lnSpc>
              <a:buFont typeface="Arial"/>
              <a:buChar char="•"/>
            </a:pPr>
            <a:r>
              <a:rPr lang="en-US" sz="3041">
                <a:solidFill>
                  <a:srgbClr val="F8F8F8"/>
                </a:solidFill>
                <a:latin typeface="Now"/>
                <a:ea typeface="Now"/>
                <a:cs typeface="Now"/>
                <a:sym typeface="Now"/>
              </a:rPr>
              <a:t>Algoritmos de recorrido y caminos mínimos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2170" y="8483533"/>
            <a:ext cx="5508045" cy="9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556" indent="-328278" lvl="1">
              <a:lnSpc>
                <a:spcPts val="3649"/>
              </a:lnSpc>
              <a:buFont typeface="Arial"/>
              <a:buChar char="•"/>
            </a:pPr>
            <a:r>
              <a:rPr lang="en-US" sz="3041">
                <a:solidFill>
                  <a:srgbClr val="F8F8F8"/>
                </a:solidFill>
                <a:latin typeface="Now"/>
                <a:ea typeface="Now"/>
                <a:cs typeface="Now"/>
                <a:sym typeface="Now"/>
              </a:rPr>
              <a:t>Algoritmos de MST y análisis de estructura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26842" y="1497682"/>
            <a:ext cx="7853340" cy="7291635"/>
          </a:xfrm>
          <a:custGeom>
            <a:avLst/>
            <a:gdLst/>
            <a:ahLst/>
            <a:cxnLst/>
            <a:rect r="r" b="b" t="t" l="l"/>
            <a:pathLst>
              <a:path h="7291635" w="7853340">
                <a:moveTo>
                  <a:pt x="0" y="0"/>
                </a:moveTo>
                <a:lnTo>
                  <a:pt x="7853340" y="0"/>
                </a:lnTo>
                <a:lnTo>
                  <a:pt x="7853340" y="7291636"/>
                </a:lnTo>
                <a:lnTo>
                  <a:pt x="0" y="7291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9149" y="812366"/>
            <a:ext cx="9810067" cy="94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b="true" sz="7695" spc="-154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CÓMO MODELAMOS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835" y="1824820"/>
            <a:ext cx="9741474" cy="102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b="true" sz="7695" spc="-154">
                <a:solidFill>
                  <a:srgbClr val="059687"/>
                </a:solidFill>
                <a:latin typeface="Now Bold"/>
                <a:ea typeface="Now Bold"/>
                <a:cs typeface="Now Bold"/>
                <a:sym typeface="Now Bold"/>
              </a:rPr>
              <a:t>LOS SEGUIMIENTOS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1196" y="3710610"/>
            <a:ext cx="3605399" cy="53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453" spc="-69" b="true">
                <a:solidFill>
                  <a:srgbClr val="059687"/>
                </a:solidFill>
                <a:latin typeface="Now Bold"/>
                <a:ea typeface="Now Bold"/>
                <a:cs typeface="Now Bold"/>
                <a:sym typeface="Now Bold"/>
              </a:rPr>
              <a:t>Usuario </a:t>
            </a:r>
            <a:r>
              <a:rPr lang="en-US" sz="3453" spc="-6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= vértice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6307" y="4893350"/>
            <a:ext cx="6094293" cy="52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453" spc="-69" b="true">
                <a:solidFill>
                  <a:srgbClr val="059687"/>
                </a:solidFill>
                <a:latin typeface="Now Bold"/>
                <a:ea typeface="Now Bold"/>
                <a:cs typeface="Now Bold"/>
                <a:sym typeface="Now Bold"/>
              </a:rPr>
              <a:t>Seguimiento </a:t>
            </a:r>
            <a:r>
              <a:rPr lang="en-US" sz="3453" spc="-6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= arista dirigida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170" y="6180703"/>
            <a:ext cx="8333830" cy="92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453" spc="-69" b="true">
                <a:solidFill>
                  <a:srgbClr val="059687"/>
                </a:solidFill>
                <a:latin typeface="Now Bold"/>
                <a:ea typeface="Now Bold"/>
                <a:cs typeface="Now Bold"/>
                <a:sym typeface="Now Bold"/>
              </a:rPr>
              <a:t>Peso </a:t>
            </a:r>
            <a:r>
              <a:rPr lang="en-US" sz="3453" spc="-6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uniforme 1;</a:t>
            </a:r>
          </a:p>
          <a:p>
            <a:pPr algn="l">
              <a:lnSpc>
                <a:spcPts val="2929"/>
              </a:lnSpc>
            </a:pPr>
            <a:r>
              <a:rPr lang="en-US" sz="2253" spc="-4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no implica reciprocidad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590" y="7935237"/>
            <a:ext cx="6160971" cy="53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453" spc="-69" b="true">
                <a:solidFill>
                  <a:srgbClr val="059687"/>
                </a:solidFill>
                <a:latin typeface="Now Bold"/>
                <a:ea typeface="Now Bold"/>
                <a:cs typeface="Now Bold"/>
                <a:sym typeface="Now Bold"/>
              </a:rPr>
              <a:t>Publicaciones </a:t>
            </a:r>
            <a:r>
              <a:rPr lang="en-US" sz="3453" spc="-6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fuera del grafo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26842" y="2569017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759182" y="3069541"/>
            <a:ext cx="1164470" cy="40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b="true" sz="2544" spc="-5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Usuario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184708" y="3214004"/>
            <a:ext cx="2625072" cy="644987"/>
          </a:xfrm>
          <a:custGeom>
            <a:avLst/>
            <a:gdLst/>
            <a:ahLst/>
            <a:cxnLst/>
            <a:rect r="r" b="b" t="t" l="l"/>
            <a:pathLst>
              <a:path h="644987" w="2625072">
                <a:moveTo>
                  <a:pt x="0" y="0"/>
                </a:moveTo>
                <a:lnTo>
                  <a:pt x="2625072" y="0"/>
                </a:lnTo>
                <a:lnTo>
                  <a:pt x="262507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80086" y="2569017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45432" y="3069541"/>
            <a:ext cx="1164470" cy="40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b="true" sz="2544" spc="-5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04980" y="3324742"/>
            <a:ext cx="445375" cy="90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b="true" sz="5625" spc="-11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101866" y="4493047"/>
            <a:ext cx="656268" cy="2372241"/>
          </a:xfrm>
          <a:custGeom>
            <a:avLst/>
            <a:gdLst/>
            <a:ahLst/>
            <a:cxnLst/>
            <a:rect r="r" b="b" t="t" l="l"/>
            <a:pathLst>
              <a:path h="2372241" w="656268">
                <a:moveTo>
                  <a:pt x="0" y="0"/>
                </a:moveTo>
                <a:lnTo>
                  <a:pt x="656268" y="0"/>
                </a:lnTo>
                <a:lnTo>
                  <a:pt x="65626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36354" y="4493047"/>
            <a:ext cx="667206" cy="2372241"/>
          </a:xfrm>
          <a:custGeom>
            <a:avLst/>
            <a:gdLst/>
            <a:ahLst/>
            <a:cxnLst/>
            <a:rect r="r" b="b" t="t" l="l"/>
            <a:pathLst>
              <a:path h="2372241" w="667206">
                <a:moveTo>
                  <a:pt x="0" y="0"/>
                </a:moveTo>
                <a:lnTo>
                  <a:pt x="667206" y="0"/>
                </a:lnTo>
                <a:lnTo>
                  <a:pt x="66720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65952" y="4066699"/>
            <a:ext cx="3062584" cy="3224936"/>
          </a:xfrm>
          <a:custGeom>
            <a:avLst/>
            <a:gdLst/>
            <a:ahLst/>
            <a:cxnLst/>
            <a:rect r="r" b="b" t="t" l="l"/>
            <a:pathLst>
              <a:path h="3224936" w="3062584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26842" y="6635716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759182" y="7256455"/>
            <a:ext cx="1164470" cy="40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b="true" sz="2544" spc="-5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Usuario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80096" y="7526716"/>
            <a:ext cx="522644" cy="90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b="true" sz="5624" spc="-11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184708" y="7499343"/>
            <a:ext cx="2625072" cy="644987"/>
          </a:xfrm>
          <a:custGeom>
            <a:avLst/>
            <a:gdLst/>
            <a:ahLst/>
            <a:cxnLst/>
            <a:rect r="r" b="b" t="t" l="l"/>
            <a:pathLst>
              <a:path h="644987" w="2625072">
                <a:moveTo>
                  <a:pt x="0" y="0"/>
                </a:moveTo>
                <a:lnTo>
                  <a:pt x="2625072" y="0"/>
                </a:lnTo>
                <a:lnTo>
                  <a:pt x="262507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580086" y="6635716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045432" y="7256455"/>
            <a:ext cx="1164470" cy="40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b="true" sz="2544" spc="-5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Usuario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93217" y="3324742"/>
            <a:ext cx="496401" cy="90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b="true" sz="5625" spc="-11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75822" y="7526716"/>
            <a:ext cx="503691" cy="90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b="true" sz="5625" spc="-11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9767" y="876411"/>
            <a:ext cx="4353804" cy="94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1"/>
              </a:lnSpc>
            </a:pPr>
            <a:r>
              <a:rPr lang="en-US" b="true" sz="6907" spc="-20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DESAFÍO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4504" y="1745201"/>
            <a:ext cx="6880112" cy="156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b="true" sz="5888" spc="-175">
                <a:solidFill>
                  <a:srgbClr val="00A19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FUNCIONALIDADES</a:t>
            </a:r>
          </a:p>
          <a:p>
            <a:pPr algn="l">
              <a:lnSpc>
                <a:spcPts val="6181"/>
              </a:lnSpc>
            </a:pPr>
            <a:r>
              <a:rPr lang="en-US" b="true" sz="5888" spc="-175">
                <a:solidFill>
                  <a:srgbClr val="00A19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SOCIALES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848060"/>
            <a:ext cx="448450" cy="5367606"/>
          </a:xfrm>
          <a:custGeom>
            <a:avLst/>
            <a:gdLst/>
            <a:ahLst/>
            <a:cxnLst/>
            <a:rect r="r" b="b" t="t" l="l"/>
            <a:pathLst>
              <a:path h="5367606" w="448450">
                <a:moveTo>
                  <a:pt x="0" y="0"/>
                </a:moveTo>
                <a:lnTo>
                  <a:pt x="448450" y="0"/>
                </a:lnTo>
                <a:lnTo>
                  <a:pt x="448450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4194" y="4101220"/>
            <a:ext cx="5286106" cy="8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511" spc="-74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Conecta usuarios con</a:t>
            </a:r>
          </a:p>
          <a:p>
            <a:pPr algn="l">
              <a:lnSpc>
                <a:spcPts val="3264"/>
              </a:lnSpc>
            </a:pPr>
            <a:r>
              <a:rPr lang="en-US" sz="2511" spc="-74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publicaciones e interacciones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913" y="5321148"/>
            <a:ext cx="5648407" cy="8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511" spc="-74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Seguir, dejar de seguir, sugerencias</a:t>
            </a:r>
          </a:p>
          <a:p>
            <a:pPr algn="l">
              <a:lnSpc>
                <a:spcPts val="3264"/>
              </a:lnSpc>
            </a:pPr>
            <a:r>
              <a:rPr lang="en-US" sz="2511" spc="-74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y grados de separación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7830" y="6510430"/>
            <a:ext cx="5657646" cy="81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Publicaciones, comentarios, compartidos y menciones @usuario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9430" y="7805663"/>
            <a:ext cx="5497658" cy="122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spc="-76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El feed muestra contenidos recibidos; el alcance se multiplica con seguidores y compartidos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56440" y="2569017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25244" y="2142670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83110" y="2350377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31464" y="3640352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26842" y="3421712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50220" y="4066699"/>
            <a:ext cx="2625072" cy="2579949"/>
          </a:xfrm>
          <a:custGeom>
            <a:avLst/>
            <a:gdLst/>
            <a:ahLst/>
            <a:cxnLst/>
            <a:rect r="r" b="b" t="t" l="l"/>
            <a:pathLst>
              <a:path h="2579949" w="2625072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87732" y="4285339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51818" y="3421712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81697" y="6534488"/>
            <a:ext cx="1423861" cy="2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734" spc="-51">
                <a:solidFill>
                  <a:srgbClr val="00A191"/>
                </a:solidFill>
                <a:latin typeface="Now Medium"/>
                <a:ea typeface="Now Medium"/>
                <a:cs typeface="Now Medium"/>
                <a:sym typeface="Now Medium"/>
              </a:rPr>
              <a:t>SUGERENCIA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31464" y="6209369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956440" y="7280704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6428009"/>
            <a:ext cx="437512" cy="1508614"/>
          </a:xfrm>
          <a:custGeom>
            <a:avLst/>
            <a:gdLst/>
            <a:ahLst/>
            <a:cxnLst/>
            <a:rect r="r" b="b" t="t" l="l"/>
            <a:pathLst>
              <a:path h="1508614" w="437512">
                <a:moveTo>
                  <a:pt x="0" y="0"/>
                </a:moveTo>
                <a:lnTo>
                  <a:pt x="437512" y="0"/>
                </a:lnTo>
                <a:lnTo>
                  <a:pt x="43751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06488" y="7707051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5598" y="7280704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008086" y="6209369"/>
            <a:ext cx="885962" cy="1300906"/>
          </a:xfrm>
          <a:custGeom>
            <a:avLst/>
            <a:gdLst/>
            <a:ahLst/>
            <a:cxnLst/>
            <a:rect r="r" b="b" t="t" l="l"/>
            <a:pathLst>
              <a:path h="1300906" w="885962">
                <a:moveTo>
                  <a:pt x="0" y="0"/>
                </a:moveTo>
                <a:lnTo>
                  <a:pt x="885962" y="0"/>
                </a:lnTo>
                <a:lnTo>
                  <a:pt x="88596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553691" y="4712711"/>
            <a:ext cx="943302" cy="28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b="true" sz="1827" spc="-54">
                <a:solidFill>
                  <a:srgbClr val="00A191"/>
                </a:solidFill>
                <a:latin typeface="Now Medium"/>
                <a:ea typeface="Now Medium"/>
                <a:cs typeface="Now Medium"/>
                <a:sym typeface="Now Medium"/>
              </a:rPr>
              <a:t>PUBLICA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320622" y="4919394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320622" y="5138034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278488" y="1071335"/>
            <a:ext cx="3707914" cy="5367606"/>
          </a:xfrm>
          <a:custGeom>
            <a:avLst/>
            <a:gdLst/>
            <a:ahLst/>
            <a:cxnLst/>
            <a:rect r="r" b="b" t="t" l="l"/>
            <a:pathLst>
              <a:path h="5367606" w="3707914">
                <a:moveTo>
                  <a:pt x="0" y="0"/>
                </a:moveTo>
                <a:lnTo>
                  <a:pt x="3707914" y="0"/>
                </a:lnTo>
                <a:lnTo>
                  <a:pt x="3707914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711581" y="1306880"/>
            <a:ext cx="722570" cy="32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b="true" sz="2446" spc="-72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FEED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497244" y="1924030"/>
            <a:ext cx="656268" cy="863627"/>
          </a:xfrm>
          <a:custGeom>
            <a:avLst/>
            <a:gdLst/>
            <a:ahLst/>
            <a:cxnLst/>
            <a:rect r="r" b="b" t="t" l="l"/>
            <a:pathLst>
              <a:path h="863627" w="656268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716000" y="342171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142574" y="342171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100440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497244" y="4066699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236354" y="4493047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100440" y="4493047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497244" y="513803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100440" y="513803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059732" y="6209369"/>
            <a:ext cx="4145426" cy="1300906"/>
          </a:xfrm>
          <a:custGeom>
            <a:avLst/>
            <a:gdLst/>
            <a:ahLst/>
            <a:cxnLst/>
            <a:rect r="r" b="b" t="t" l="l"/>
            <a:pathLst>
              <a:path h="1300906" w="414542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622220" y="7280704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923818" y="7280704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236354" y="7280704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319196" y="7280704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059732" y="8352038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361330" y="8352038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455110" y="8352038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6756708" y="8352038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3032229" y="9108054"/>
            <a:ext cx="4084489" cy="43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9"/>
              </a:lnSpc>
            </a:pPr>
            <a:r>
              <a:rPr lang="en-US" b="true" sz="3152" spc="-93">
                <a:solidFill>
                  <a:srgbClr val="00A191"/>
                </a:solidFill>
                <a:latin typeface="Now Bold"/>
                <a:ea typeface="Now Bold"/>
                <a:cs typeface="Now Bold"/>
                <a:sym typeface="Now Bold"/>
              </a:rPr>
              <a:t>ALCANCE AMPLIADO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11694" y="5581997"/>
            <a:ext cx="2045420" cy="20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"/>
              </a:lnSpc>
            </a:pPr>
            <a:r>
              <a:rPr lang="en-US" sz="1374" spc="-68" b="true">
                <a:solidFill>
                  <a:srgbClr val="212F31"/>
                </a:solidFill>
                <a:latin typeface="Now Medium"/>
                <a:ea typeface="Now Medium"/>
                <a:cs typeface="Now Medium"/>
                <a:sym typeface="Now Medium"/>
              </a:rPr>
              <a:t>Compartó tu publicación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674111" y="2840924"/>
            <a:ext cx="1510011" cy="20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"/>
              </a:lnSpc>
            </a:pPr>
            <a:r>
              <a:rPr lang="en-US" sz="1374" spc="-68" b="true">
                <a:solidFill>
                  <a:srgbClr val="212F31"/>
                </a:solidFill>
                <a:latin typeface="Now Medium"/>
                <a:ea typeface="Now Medium"/>
                <a:cs typeface="Now Medium"/>
                <a:sym typeface="Now Medium"/>
              </a:rPr>
              <a:t>Nueva publicación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08343" y="5564709"/>
            <a:ext cx="1633998" cy="2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3"/>
              </a:lnSpc>
            </a:pPr>
            <a:r>
              <a:rPr lang="en-US" b="true" sz="1603" spc="-47">
                <a:solidFill>
                  <a:srgbClr val="00A191"/>
                </a:solidFill>
                <a:latin typeface="Now Medium"/>
                <a:ea typeface="Now Medium"/>
                <a:cs typeface="Now Medium"/>
                <a:sym typeface="Now Medium"/>
              </a:rPr>
              <a:t>INTERACCIONES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818186" y="9185196"/>
            <a:ext cx="1112222" cy="2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734" spc="-51">
                <a:solidFill>
                  <a:srgbClr val="00A191"/>
                </a:solidFill>
                <a:latin typeface="Now Medium"/>
                <a:ea typeface="Now Medium"/>
                <a:cs typeface="Now Medium"/>
                <a:sym typeface="Now Medium"/>
              </a:rPr>
              <a:t>3° GRADO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550933" y="6594732"/>
            <a:ext cx="1106267" cy="2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5"/>
              </a:lnSpc>
            </a:pPr>
            <a:r>
              <a:rPr lang="en-US" b="true" sz="1734" spc="-51">
                <a:solidFill>
                  <a:srgbClr val="00A191"/>
                </a:solidFill>
                <a:latin typeface="Now Medium"/>
                <a:ea typeface="Now Medium"/>
                <a:cs typeface="Now Medium"/>
                <a:sym typeface="Now Medium"/>
              </a:rPr>
              <a:t>2° GRADO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429375" y="4414040"/>
            <a:ext cx="2169914" cy="3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b="true" sz="2250" spc="-67">
                <a:solidFill>
                  <a:srgbClr val="00A191"/>
                </a:solidFill>
                <a:latin typeface="Now Medium"/>
                <a:ea typeface="Now Medium"/>
                <a:cs typeface="Now Medium"/>
                <a:sym typeface="Now Medium"/>
              </a:rPr>
              <a:t>SIGUE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322992" y="4603042"/>
            <a:ext cx="915659" cy="206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"/>
              </a:lnSpc>
            </a:pPr>
            <a:r>
              <a:rPr lang="en-US" sz="1374" spc="-68" b="true">
                <a:solidFill>
                  <a:srgbClr val="212F31"/>
                </a:solidFill>
                <a:latin typeface="Now Medium"/>
                <a:ea typeface="Now Medium"/>
                <a:cs typeface="Now Medium"/>
                <a:sym typeface="Now Medium"/>
              </a:rPr>
              <a:t>¡Gran idea!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26092" y="4306636"/>
            <a:ext cx="605675" cy="25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476" spc="-43" b="true">
                <a:solidFill>
                  <a:srgbClr val="212F31"/>
                </a:solidFill>
                <a:latin typeface="Now Bold"/>
                <a:ea typeface="Now Bold"/>
                <a:cs typeface="Now Bold"/>
                <a:sym typeface="Now Bold"/>
              </a:rPr>
              <a:t>amigo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324761" y="5262774"/>
            <a:ext cx="738714" cy="26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661" spc="-49" b="true">
                <a:solidFill>
                  <a:srgbClr val="212F31"/>
                </a:solidFill>
                <a:latin typeface="Now Bold"/>
                <a:ea typeface="Now Bold"/>
                <a:cs typeface="Now Bold"/>
                <a:sym typeface="Now Bold"/>
              </a:rPr>
              <a:t>usuario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681966" y="3086078"/>
            <a:ext cx="724457" cy="24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601" spc="-47">
                <a:solidFill>
                  <a:srgbClr val="00A191">
                    <a:alpha val="89804"/>
                  </a:srgbClr>
                </a:solidFill>
                <a:latin typeface="Now"/>
                <a:ea typeface="Now"/>
                <a:cs typeface="Now"/>
                <a:sym typeface="Now"/>
              </a:rPr>
              <a:t>@amigo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492133" y="6070732"/>
            <a:ext cx="1741289" cy="31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b="true" sz="2250" spc="-67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TÚ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329263" y="2401450"/>
            <a:ext cx="288570" cy="19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"/>
              </a:lnSpc>
            </a:pPr>
            <a:r>
              <a:rPr lang="en-US" sz="1265" spc="-63">
                <a:solidFill>
                  <a:srgbClr val="212F31"/>
                </a:solidFill>
                <a:latin typeface="Now"/>
                <a:ea typeface="Now"/>
                <a:cs typeface="Now"/>
                <a:sym typeface="Now"/>
              </a:rPr>
              <a:t>Hoy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329561" y="2122247"/>
            <a:ext cx="258761" cy="28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27" spc="-54" b="true">
                <a:solidFill>
                  <a:srgbClr val="212F31"/>
                </a:solidFill>
                <a:latin typeface="Now Bold"/>
                <a:ea typeface="Now Bold"/>
                <a:cs typeface="Now Bold"/>
                <a:sym typeface="Now Bold"/>
              </a:rPr>
              <a:t>Tú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2000" y="533797"/>
            <a:ext cx="12418670" cy="88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6707" b="true">
                <a:solidFill>
                  <a:srgbClr val="F4F4F4"/>
                </a:solidFill>
                <a:latin typeface="Now Bold"/>
                <a:ea typeface="Now Bold"/>
                <a:cs typeface="Now Bold"/>
                <a:sym typeface="Now Bold"/>
              </a:rPr>
              <a:t>Cinco consultas adicionales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0354" y="1924030"/>
            <a:ext cx="15466048" cy="1727254"/>
          </a:xfrm>
          <a:custGeom>
            <a:avLst/>
            <a:gdLst/>
            <a:ahLst/>
            <a:cxnLst/>
            <a:rect r="r" b="b" t="t" l="l"/>
            <a:pathLst>
              <a:path h="1727254" w="15466048">
                <a:moveTo>
                  <a:pt x="0" y="0"/>
                </a:moveTo>
                <a:lnTo>
                  <a:pt x="15466048" y="0"/>
                </a:lnTo>
                <a:lnTo>
                  <a:pt x="15466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19203" y="2524789"/>
            <a:ext cx="3823422" cy="47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107" b="true">
                <a:solidFill>
                  <a:srgbClr val="0AC6A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alcanzablesHastaK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06488" y="2142670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18823" y="2617238"/>
            <a:ext cx="2340312" cy="3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657" b="true">
                <a:solidFill>
                  <a:srgbClr val="F4F4F4"/>
                </a:solidFill>
                <a:latin typeface="Now Medium"/>
                <a:ea typeface="Now Medium"/>
                <a:cs typeface="Now Medium"/>
                <a:sym typeface="Now Medium"/>
              </a:rPr>
              <a:t>hasta K saltos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20354" y="3421712"/>
            <a:ext cx="15466048" cy="1727254"/>
          </a:xfrm>
          <a:custGeom>
            <a:avLst/>
            <a:gdLst/>
            <a:ahLst/>
            <a:cxnLst/>
            <a:rect r="r" b="b" t="t" l="l"/>
            <a:pathLst>
              <a:path h="1727254" w="15466048">
                <a:moveTo>
                  <a:pt x="0" y="0"/>
                </a:moveTo>
                <a:lnTo>
                  <a:pt x="15466048" y="0"/>
                </a:lnTo>
                <a:lnTo>
                  <a:pt x="15466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15064" y="4060995"/>
            <a:ext cx="4237381" cy="47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107" b="true">
                <a:solidFill>
                  <a:srgbClr val="0AC6A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seguidoresComunes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06488" y="3640352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07116" y="4164243"/>
            <a:ext cx="3511029" cy="31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657" b="true">
                <a:solidFill>
                  <a:srgbClr val="F4F4F4"/>
                </a:solidFill>
                <a:latin typeface="Now Medium"/>
                <a:ea typeface="Now Medium"/>
                <a:cs typeface="Now Medium"/>
                <a:sym typeface="Now Medium"/>
              </a:rPr>
              <a:t>seguidores de ambos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20354" y="5138034"/>
            <a:ext cx="15466048" cy="1727254"/>
          </a:xfrm>
          <a:custGeom>
            <a:avLst/>
            <a:gdLst/>
            <a:ahLst/>
            <a:cxnLst/>
            <a:rect r="r" b="b" t="t" l="l"/>
            <a:pathLst>
              <a:path h="1727254" w="15466048">
                <a:moveTo>
                  <a:pt x="0" y="0"/>
                </a:moveTo>
                <a:lnTo>
                  <a:pt x="15466048" y="0"/>
                </a:lnTo>
                <a:lnTo>
                  <a:pt x="15466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24383" y="5627322"/>
            <a:ext cx="3305447" cy="47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107" b="true">
                <a:solidFill>
                  <a:srgbClr val="0AC6A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caminoEvitando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6488" y="535667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85988" y="5704711"/>
            <a:ext cx="5623846" cy="3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657" b="true">
                <a:solidFill>
                  <a:srgbClr val="F4F4F4"/>
                </a:solidFill>
                <a:latin typeface="Now Medium"/>
                <a:ea typeface="Now Medium"/>
                <a:cs typeface="Now Medium"/>
                <a:sym typeface="Now Medium"/>
              </a:rPr>
              <a:t>ruta mínima sin pasar por usuario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0354" y="6635716"/>
            <a:ext cx="15466048" cy="1727254"/>
          </a:xfrm>
          <a:custGeom>
            <a:avLst/>
            <a:gdLst/>
            <a:ahLst/>
            <a:cxnLst/>
            <a:rect r="r" b="b" t="t" l="l"/>
            <a:pathLst>
              <a:path h="1727254" w="15466048">
                <a:moveTo>
                  <a:pt x="0" y="0"/>
                </a:moveTo>
                <a:lnTo>
                  <a:pt x="15466048" y="0"/>
                </a:lnTo>
                <a:lnTo>
                  <a:pt x="15466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98053" y="7163528"/>
            <a:ext cx="5938415" cy="47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107" b="true">
                <a:solidFill>
                  <a:srgbClr val="0AC6A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gruposDeSeguimientoMutuo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6488" y="6854356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179765" y="7255977"/>
            <a:ext cx="6246185" cy="3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657" b="true">
                <a:solidFill>
                  <a:srgbClr val="F4F4F4"/>
                </a:solidFill>
                <a:latin typeface="Now Medium"/>
                <a:ea typeface="Now Medium"/>
                <a:cs typeface="Now Medium"/>
                <a:sym typeface="Now Medium"/>
              </a:rPr>
              <a:t>componentes por vínculos recíprocos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20354" y="8133399"/>
            <a:ext cx="15466048" cy="1727254"/>
          </a:xfrm>
          <a:custGeom>
            <a:avLst/>
            <a:gdLst/>
            <a:ahLst/>
            <a:cxnLst/>
            <a:rect r="r" b="b" t="t" l="l"/>
            <a:pathLst>
              <a:path h="1727254" w="15466048">
                <a:moveTo>
                  <a:pt x="0" y="0"/>
                </a:moveTo>
                <a:lnTo>
                  <a:pt x="15466048" y="0"/>
                </a:lnTo>
                <a:lnTo>
                  <a:pt x="15466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295830" y="8729436"/>
            <a:ext cx="6160715" cy="44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3619" spc="-107" b="true">
                <a:solidFill>
                  <a:srgbClr val="0AC6A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perdidaPorEliminarSeguimiento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706488" y="8352038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208540" y="8822305"/>
            <a:ext cx="3368704" cy="3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657" b="true">
                <a:solidFill>
                  <a:srgbClr val="F4F4F4"/>
                </a:solidFill>
                <a:latin typeface="Now Medium"/>
                <a:ea typeface="Now Medium"/>
                <a:cs typeface="Now Medium"/>
                <a:sym typeface="Now Medium"/>
              </a:rPr>
              <a:t>simular quitar arista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514" y="828789"/>
            <a:ext cx="4879057" cy="114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17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ANÁLISIS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9281" y="1881622"/>
            <a:ext cx="7790598" cy="223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172">
                <a:solidFill>
                  <a:srgbClr val="00948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 LA RED Y PRUEBAS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918" y="4423584"/>
            <a:ext cx="6819199" cy="88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83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Influencia: seguidores y alcance</a:t>
            </a:r>
          </a:p>
          <a:p>
            <a:pPr algn="l">
              <a:lnSpc>
                <a:spcPts val="3516"/>
              </a:lnSpc>
            </a:pPr>
            <a:r>
              <a:rPr lang="en-US" sz="283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potencial a través de seguidores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356674"/>
            <a:ext cx="6114230" cy="437279"/>
          </a:xfrm>
          <a:custGeom>
            <a:avLst/>
            <a:gdLst/>
            <a:ahLst/>
            <a:cxnLst/>
            <a:rect r="r" b="b" t="t" l="l"/>
            <a:pathLst>
              <a:path h="437279" w="6114230">
                <a:moveTo>
                  <a:pt x="0" y="0"/>
                </a:moveTo>
                <a:lnTo>
                  <a:pt x="6114230" y="0"/>
                </a:lnTo>
                <a:lnTo>
                  <a:pt x="6114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8392" y="5851587"/>
            <a:ext cx="6091167" cy="178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83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Comunidades: componentes fuertemente conexas; puentes: articulaciones en proyección</a:t>
            </a:r>
          </a:p>
          <a:p>
            <a:pPr algn="l">
              <a:lnSpc>
                <a:spcPts val="3516"/>
              </a:lnSpc>
            </a:pPr>
            <a:r>
              <a:rPr lang="en-US" sz="283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no dirigida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050220" y="852695"/>
            <a:ext cx="10029962" cy="8800250"/>
          </a:xfrm>
          <a:custGeom>
            <a:avLst/>
            <a:gdLst/>
            <a:ahLst/>
            <a:cxnLst/>
            <a:rect r="r" b="b" t="t" l="l"/>
            <a:pathLst>
              <a:path h="8800250" w="10029962">
                <a:moveTo>
                  <a:pt x="0" y="0"/>
                </a:moveTo>
                <a:lnTo>
                  <a:pt x="10029962" y="0"/>
                </a:lnTo>
                <a:lnTo>
                  <a:pt x="1002996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8765" y="856530"/>
            <a:ext cx="11206326" cy="137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3"/>
              </a:lnSpc>
            </a:pPr>
            <a:r>
              <a:rPr lang="en-US" sz="9615" spc="-286" b="true">
                <a:solidFill>
                  <a:srgbClr val="1E1E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Órdenes de complejidad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5131" y="2553550"/>
            <a:ext cx="7569734" cy="65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8"/>
              </a:lnSpc>
            </a:pPr>
            <a:r>
              <a:rPr lang="en-US" sz="4298" spc="-41">
                <a:solidFill>
                  <a:srgbClr val="32323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 una red social basada en grafos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066699"/>
            <a:ext cx="4145426" cy="4077631"/>
          </a:xfrm>
          <a:custGeom>
            <a:avLst/>
            <a:gdLst/>
            <a:ahLst/>
            <a:cxnLst/>
            <a:rect r="r" b="b" t="t" l="l"/>
            <a:pathLst>
              <a:path h="4077631" w="4145426">
                <a:moveTo>
                  <a:pt x="0" y="0"/>
                </a:moveTo>
                <a:lnTo>
                  <a:pt x="4145426" y="0"/>
                </a:lnTo>
                <a:lnTo>
                  <a:pt x="414542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9253" y="4360851"/>
            <a:ext cx="1871117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b="true" sz="3602" spc="-35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BFS y DFS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3467" y="5981887"/>
            <a:ext cx="2982689" cy="10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1"/>
              </a:lnSpc>
            </a:pPr>
            <a:r>
              <a:rPr lang="en-US" sz="6908">
                <a:solidFill>
                  <a:srgbClr val="06514F"/>
                </a:solidFill>
                <a:latin typeface="Fira Sans"/>
                <a:ea typeface="Fira Sans"/>
                <a:cs typeface="Fira Sans"/>
                <a:sym typeface="Fira Sans"/>
              </a:rPr>
              <a:t>O(V²+E)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79818" y="4066699"/>
            <a:ext cx="4364182" cy="4077631"/>
          </a:xfrm>
          <a:custGeom>
            <a:avLst/>
            <a:gdLst/>
            <a:ahLst/>
            <a:cxnLst/>
            <a:rect r="r" b="b" t="t" l="l"/>
            <a:pathLst>
              <a:path h="4077631" w="4364182">
                <a:moveTo>
                  <a:pt x="0" y="0"/>
                </a:moveTo>
                <a:lnTo>
                  <a:pt x="4364182" y="0"/>
                </a:lnTo>
                <a:lnTo>
                  <a:pt x="436418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03590" y="4360851"/>
            <a:ext cx="1424014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b="true" sz="3602" spc="-35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Dijkstra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24252" y="5981887"/>
            <a:ext cx="2982689" cy="10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1"/>
              </a:lnSpc>
            </a:pPr>
            <a:r>
              <a:rPr lang="en-US" sz="6908">
                <a:solidFill>
                  <a:srgbClr val="06514F"/>
                </a:solidFill>
                <a:latin typeface="Fira Sans"/>
                <a:ea typeface="Fira Sans"/>
                <a:cs typeface="Fira Sans"/>
                <a:sym typeface="Fira Sans"/>
              </a:rPr>
              <a:t>O(V²+E)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4066699"/>
            <a:ext cx="4145426" cy="4077631"/>
          </a:xfrm>
          <a:custGeom>
            <a:avLst/>
            <a:gdLst/>
            <a:ahLst/>
            <a:cxnLst/>
            <a:rect r="r" b="b" t="t" l="l"/>
            <a:pathLst>
              <a:path h="4077631" w="4145426">
                <a:moveTo>
                  <a:pt x="0" y="0"/>
                </a:moveTo>
                <a:lnTo>
                  <a:pt x="4145426" y="0"/>
                </a:lnTo>
                <a:lnTo>
                  <a:pt x="414542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06526" y="4360851"/>
            <a:ext cx="3011154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b="true" sz="3602" spc="-35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Floyd y Marshall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6343" y="5981887"/>
            <a:ext cx="2056533" cy="10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1"/>
              </a:lnSpc>
            </a:pPr>
            <a:r>
              <a:rPr lang="en-US" sz="6908">
                <a:solidFill>
                  <a:srgbClr val="06514F"/>
                </a:solidFill>
                <a:latin typeface="Fira Sans"/>
                <a:ea typeface="Fira Sans"/>
                <a:cs typeface="Fira Sans"/>
                <a:sym typeface="Fira Sans"/>
              </a:rPr>
              <a:t>O(V³)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278488" y="4066699"/>
            <a:ext cx="4145426" cy="4077631"/>
          </a:xfrm>
          <a:custGeom>
            <a:avLst/>
            <a:gdLst/>
            <a:ahLst/>
            <a:cxnLst/>
            <a:rect r="r" b="b" t="t" l="l"/>
            <a:pathLst>
              <a:path h="4077631" w="4145426">
                <a:moveTo>
                  <a:pt x="0" y="0"/>
                </a:moveTo>
                <a:lnTo>
                  <a:pt x="4145426" y="0"/>
                </a:lnTo>
                <a:lnTo>
                  <a:pt x="414542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52776" y="4285547"/>
            <a:ext cx="2839874" cy="104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b="true" sz="3480" spc="-3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Cinco consultas adicionales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60508" y="6027069"/>
            <a:ext cx="2624408" cy="10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1"/>
              </a:lnSpc>
            </a:pPr>
            <a:r>
              <a:rPr lang="en-US" sz="6908">
                <a:solidFill>
                  <a:srgbClr val="06514F"/>
                </a:solidFill>
                <a:latin typeface="Fira Sans"/>
                <a:ea typeface="Fira Sans"/>
                <a:cs typeface="Fira Sans"/>
                <a:sym typeface="Fira Sans"/>
              </a:rPr>
              <a:t>O(V+E)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2239" y="9472013"/>
            <a:ext cx="3390914" cy="41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689" spc="-26">
                <a:solidFill>
                  <a:srgbClr val="32323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V=usuarios  E=relaciones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0325" y="761262"/>
            <a:ext cx="3297985" cy="65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4994" b="true">
                <a:solidFill>
                  <a:srgbClr val="FFFFFF">
                    <a:alpha val="89804"/>
                  </a:srgbClr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DESAFÍO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7990" y="1448337"/>
            <a:ext cx="8531513" cy="11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172">
                <a:solidFill>
                  <a:srgbClr val="039987"/>
                </a:solidFill>
                <a:latin typeface="Now Heavy"/>
                <a:ea typeface="Now Heavy"/>
                <a:cs typeface="Now Heavy"/>
                <a:sym typeface="Now Heavy"/>
              </a:rPr>
              <a:t>OPTIMIZACIÓN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7634584" cy="4296271"/>
          </a:xfrm>
          <a:custGeom>
            <a:avLst/>
            <a:gdLst/>
            <a:ahLst/>
            <a:cxnLst/>
            <a:rect r="r" b="b" t="t" l="l"/>
            <a:pathLst>
              <a:path h="4296271" w="7634584">
                <a:moveTo>
                  <a:pt x="0" y="0"/>
                </a:moveTo>
                <a:lnTo>
                  <a:pt x="7634584" y="0"/>
                </a:lnTo>
                <a:lnTo>
                  <a:pt x="7634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7404" y="3036854"/>
            <a:ext cx="1415894" cy="53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323" b="true">
                <a:solidFill>
                  <a:srgbClr val="039987"/>
                </a:solidFill>
                <a:latin typeface="Now Heavy"/>
                <a:ea typeface="Now Heavy"/>
                <a:cs typeface="Now Heavy"/>
                <a:sym typeface="Now Heavy"/>
              </a:rPr>
              <a:t>ANTES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988" y="3840433"/>
            <a:ext cx="2957402" cy="122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544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consultar predecessors()</a:t>
            </a:r>
          </a:p>
          <a:p>
            <a:pPr algn="l">
              <a:lnSpc>
                <a:spcPts val="3307"/>
              </a:lnSpc>
            </a:pPr>
            <a:r>
              <a:rPr lang="en-US" sz="2544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para cada usuario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585" y="5777318"/>
            <a:ext cx="1897707" cy="43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685" b="true">
                <a:solidFill>
                  <a:srgbClr val="039987"/>
                </a:solidFill>
                <a:latin typeface="Now Bold"/>
                <a:ea typeface="Now Bold"/>
                <a:cs typeface="Now Bold"/>
                <a:sym typeface="Now Bold"/>
              </a:rPr>
              <a:t>O(V(V+E))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34488" y="2995365"/>
            <a:ext cx="3926670" cy="3443576"/>
          </a:xfrm>
          <a:custGeom>
            <a:avLst/>
            <a:gdLst/>
            <a:ahLst/>
            <a:cxnLst/>
            <a:rect r="r" b="b" t="t" l="l"/>
            <a:pathLst>
              <a:path h="3443576" w="3926670">
                <a:moveTo>
                  <a:pt x="0" y="0"/>
                </a:moveTo>
                <a:lnTo>
                  <a:pt x="3926670" y="0"/>
                </a:lnTo>
                <a:lnTo>
                  <a:pt x="3926670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87732" y="4066699"/>
            <a:ext cx="1531292" cy="1300906"/>
          </a:xfrm>
          <a:custGeom>
            <a:avLst/>
            <a:gdLst/>
            <a:ahLst/>
            <a:cxnLst/>
            <a:rect r="r" b="b" t="t" l="l"/>
            <a:pathLst>
              <a:path h="1300906" w="1531292">
                <a:moveTo>
                  <a:pt x="0" y="0"/>
                </a:moveTo>
                <a:lnTo>
                  <a:pt x="1531292" y="0"/>
                </a:lnTo>
                <a:lnTo>
                  <a:pt x="153129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08086" y="2569017"/>
            <a:ext cx="7634584" cy="4296271"/>
          </a:xfrm>
          <a:custGeom>
            <a:avLst/>
            <a:gdLst/>
            <a:ahLst/>
            <a:cxnLst/>
            <a:rect r="r" b="b" t="t" l="l"/>
            <a:pathLst>
              <a:path h="4296271" w="7634584">
                <a:moveTo>
                  <a:pt x="0" y="0"/>
                </a:moveTo>
                <a:lnTo>
                  <a:pt x="7634584" y="0"/>
                </a:lnTo>
                <a:lnTo>
                  <a:pt x="7634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81719" y="3036854"/>
            <a:ext cx="1959400" cy="53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323" b="true">
                <a:solidFill>
                  <a:srgbClr val="039987"/>
                </a:solidFill>
                <a:latin typeface="Now Heavy"/>
                <a:ea typeface="Now Heavy"/>
                <a:cs typeface="Now Heavy"/>
                <a:sym typeface="Now Heavy"/>
              </a:rPr>
              <a:t>DESPUÉS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1319" y="3840833"/>
            <a:ext cx="2999329" cy="11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463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recorrer una vez las aristas e indexar seguidores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87962" y="5777318"/>
            <a:ext cx="1335085" cy="43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685" b="true">
                <a:solidFill>
                  <a:srgbClr val="039987"/>
                </a:solidFill>
                <a:latin typeface="Now Bold"/>
                <a:ea typeface="Now Bold"/>
                <a:cs typeface="Now Bold"/>
                <a:sym typeface="Now Bold"/>
              </a:rPr>
              <a:t>O(V+E)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7244" y="2995365"/>
            <a:ext cx="3926670" cy="3443576"/>
          </a:xfrm>
          <a:custGeom>
            <a:avLst/>
            <a:gdLst/>
            <a:ahLst/>
            <a:cxnLst/>
            <a:rect r="r" b="b" t="t" l="l"/>
            <a:pathLst>
              <a:path h="3443576" w="3926670">
                <a:moveTo>
                  <a:pt x="0" y="0"/>
                </a:moveTo>
                <a:lnTo>
                  <a:pt x="3926670" y="0"/>
                </a:lnTo>
                <a:lnTo>
                  <a:pt x="3926670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14560" y="6910251"/>
            <a:ext cx="4101718" cy="52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323">
                <a:solidFill>
                  <a:srgbClr val="FFFFFF">
                    <a:alpha val="89804"/>
                  </a:srgbClr>
                </a:solidFill>
                <a:latin typeface="Now Heavy"/>
                <a:ea typeface="Now Heavy"/>
                <a:cs typeface="Now Heavy"/>
                <a:sym typeface="Now Heavy"/>
              </a:rPr>
              <a:t>MEJORAS MEDIDAS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5401" y="7800348"/>
            <a:ext cx="3270502" cy="1190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1"/>
              </a:lnSpc>
            </a:pPr>
            <a:r>
              <a:rPr lang="en-US" b="true" sz="8631" spc="-172">
                <a:solidFill>
                  <a:srgbClr val="039987"/>
                </a:solidFill>
                <a:latin typeface="Now Heavy"/>
                <a:ea typeface="Now Heavy"/>
                <a:cs typeface="Now Heavy"/>
                <a:sym typeface="Now Heavy"/>
              </a:rPr>
              <a:t>5,57x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2923" y="9076252"/>
            <a:ext cx="2575459" cy="53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323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100 usuarios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311110" y="7499343"/>
            <a:ext cx="229694" cy="2361309"/>
          </a:xfrm>
          <a:custGeom>
            <a:avLst/>
            <a:gdLst/>
            <a:ahLst/>
            <a:cxnLst/>
            <a:rect r="r" b="b" t="t" l="l"/>
            <a:pathLst>
              <a:path h="2361309" w="229694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02353" y="7768504"/>
            <a:ext cx="3326132" cy="125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1"/>
              </a:lnSpc>
            </a:pPr>
            <a:r>
              <a:rPr lang="en-US" b="true" sz="8631" spc="-172">
                <a:solidFill>
                  <a:srgbClr val="039987"/>
                </a:solidFill>
                <a:latin typeface="Now Heavy"/>
                <a:ea typeface="Now Heavy"/>
                <a:cs typeface="Now Heavy"/>
                <a:sym typeface="Now Heavy"/>
              </a:rPr>
              <a:t>4,73x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0745" y="9084538"/>
            <a:ext cx="2609347" cy="51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323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300 usuarios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747196" y="7499343"/>
            <a:ext cx="229694" cy="2361309"/>
          </a:xfrm>
          <a:custGeom>
            <a:avLst/>
            <a:gdLst/>
            <a:ahLst/>
            <a:cxnLst/>
            <a:rect r="r" b="b" t="t" l="l"/>
            <a:pathLst>
              <a:path h="2361309" w="229694">
                <a:moveTo>
                  <a:pt x="0" y="0"/>
                </a:moveTo>
                <a:lnTo>
                  <a:pt x="229694" y="0"/>
                </a:lnTo>
                <a:lnTo>
                  <a:pt x="22969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608108" y="7800348"/>
            <a:ext cx="3362355" cy="1190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1"/>
              </a:lnSpc>
            </a:pPr>
            <a:r>
              <a:rPr lang="en-US" b="true" sz="8631" spc="-172">
                <a:solidFill>
                  <a:srgbClr val="039987"/>
                </a:solidFill>
                <a:latin typeface="Now Heavy"/>
                <a:ea typeface="Now Heavy"/>
                <a:cs typeface="Now Heavy"/>
                <a:sym typeface="Now Heavy"/>
              </a:rPr>
              <a:t>6,47x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72013" y="9076039"/>
            <a:ext cx="2634545" cy="53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323" b="true">
                <a:solidFill>
                  <a:srgbClr val="FFFFFF">
                    <a:alpha val="89804"/>
                  </a:srgbClr>
                </a:solidFill>
                <a:latin typeface="Now Medium"/>
                <a:ea typeface="Now Medium"/>
                <a:cs typeface="Now Medium"/>
                <a:sym typeface="Now Medium"/>
              </a:rPr>
              <a:t>600 usuarios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2776725"/>
            <a:ext cx="11987828" cy="6012593"/>
          </a:xfrm>
          <a:custGeom>
            <a:avLst/>
            <a:gdLst/>
            <a:ahLst/>
            <a:cxnLst/>
            <a:rect r="r" b="b" t="t" l="l"/>
            <a:pathLst>
              <a:path h="6012593" w="11987828">
                <a:moveTo>
                  <a:pt x="0" y="0"/>
                </a:moveTo>
                <a:lnTo>
                  <a:pt x="11987828" y="0"/>
                </a:lnTo>
                <a:lnTo>
                  <a:pt x="11987828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1829" y="2487226"/>
            <a:ext cx="11961328" cy="7327864"/>
          </a:xfrm>
          <a:custGeom>
            <a:avLst/>
            <a:gdLst/>
            <a:ahLst/>
            <a:cxnLst/>
            <a:rect r="r" b="b" t="t" l="l"/>
            <a:pathLst>
              <a:path h="7327864" w="11961328">
                <a:moveTo>
                  <a:pt x="0" y="0"/>
                </a:moveTo>
                <a:lnTo>
                  <a:pt x="11961329" y="0"/>
                </a:lnTo>
                <a:lnTo>
                  <a:pt x="11961329" y="7327864"/>
                </a:lnTo>
                <a:lnTo>
                  <a:pt x="0" y="7327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5476" y="664123"/>
            <a:ext cx="6782887" cy="93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b="true" sz="7100" spc="-284">
                <a:solidFill>
                  <a:srgbClr val="F8F8F8"/>
                </a:solidFill>
                <a:latin typeface="TT Hoves Bold"/>
                <a:ea typeface="TT Hoves Bold"/>
                <a:cs typeface="TT Hoves Bold"/>
                <a:sym typeface="TT Hoves Bold"/>
              </a:rPr>
              <a:t>ORGANIZACIÓN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829" y="1507530"/>
            <a:ext cx="5147521" cy="93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b="true" sz="7100" spc="-284">
                <a:solidFill>
                  <a:srgbClr val="00B2A3"/>
                </a:solidFill>
                <a:latin typeface="TT Hoves Bold"/>
                <a:ea typeface="TT Hoves Bold"/>
                <a:cs typeface="TT Hoves Bold"/>
                <a:sym typeface="TT Hoves Bold"/>
              </a:rPr>
              <a:t>DEL EQUIPO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25176" y="2922215"/>
            <a:ext cx="4855081" cy="9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3392" spc="-101" b="true">
                <a:solidFill>
                  <a:srgbClr val="F8F8F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Distribución de tareas entre integrantes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12957" y="5102822"/>
            <a:ext cx="4047231" cy="9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3392" spc="-101" b="true">
                <a:solidFill>
                  <a:srgbClr val="F8F8F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Seguimiento de</a:t>
            </a:r>
          </a:p>
          <a:p>
            <a:pPr algn="l">
              <a:lnSpc>
                <a:spcPts val="4071"/>
              </a:lnSpc>
            </a:pPr>
            <a:r>
              <a:rPr lang="en-US" sz="3392" spc="-101" b="true">
                <a:solidFill>
                  <a:srgbClr val="F8F8F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pendientes y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25176" y="7283430"/>
            <a:ext cx="4638378" cy="98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3392" spc="-101" b="true">
                <a:solidFill>
                  <a:srgbClr val="F8F8F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Integración y revisión</a:t>
            </a:r>
          </a:p>
          <a:p>
            <a:pPr algn="l">
              <a:lnSpc>
                <a:spcPts val="4071"/>
              </a:lnSpc>
            </a:pPr>
            <a:r>
              <a:rPr lang="en-US" sz="3392" spc="-101" b="true">
                <a:solidFill>
                  <a:srgbClr val="F8F8F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 las implementaciones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636" y="1285803"/>
            <a:ext cx="8861371" cy="115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84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¿QUÉ LOGRAMOS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6744" y="2355122"/>
            <a:ext cx="10050600" cy="115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1"/>
              </a:lnSpc>
            </a:pPr>
            <a:r>
              <a:rPr lang="en-US" b="true" sz="8631" spc="-84">
                <a:solidFill>
                  <a:srgbClr val="009B9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 EL PROYECTO?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5911" y="4144464"/>
            <a:ext cx="4133920" cy="221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Desarrollamos una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biblioteca de grafos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y la aplicamos a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una red social.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87176" y="4144464"/>
            <a:ext cx="4935537" cy="221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Implementamos y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probamos consultas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sobre seguimiento,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conectividad y difusión.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04415" y="4144464"/>
            <a:ext cx="5249908" cy="214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Optimizamos la consulta de seguidores, reduciendo el tiempo de ejecución</a:t>
            </a:r>
          </a:p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sin cambiar los resultados.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7062064"/>
            <a:ext cx="14820718" cy="2153601"/>
          </a:xfrm>
          <a:custGeom>
            <a:avLst/>
            <a:gdLst/>
            <a:ahLst/>
            <a:cxnLst/>
            <a:rect r="r" b="b" t="t" l="l"/>
            <a:pathLst>
              <a:path h="2153601" w="14820718">
                <a:moveTo>
                  <a:pt x="0" y="0"/>
                </a:moveTo>
                <a:lnTo>
                  <a:pt x="14820718" y="0"/>
                </a:lnTo>
                <a:lnTo>
                  <a:pt x="1482071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05593" y="7352658"/>
            <a:ext cx="12670413" cy="154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744" spc="-36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 proyecto nos permitió comprobar que elegir correctamente las estructuras de datos y los algoritmos influye en el rendimiento de una solución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DAHZWpKiwPI</dc:identifier>
  <dcterms:modified xsi:type="dcterms:W3CDTF">2011-08-01T06:04:30Z</dcterms:modified>
  <cp:revision>1</cp:revision>
  <dc:title>Defensa Proyecto Integrador 2</dc:title>
</cp:coreProperties>
</file>